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UGC IT Service Request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F9968"/>
                </a:solidFill>
              </a:defRPr>
            </a:pPr>
            <a:r>
              <a:t>Digital Transformation for IT Service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2F2F2"/>
                </a:solidFill>
              </a:defRPr>
            </a:pPr>
            <a:r>
              <a:t>University Grants Commission of Bangladesh | ICT Division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Manual IT service request handling - time-consuming and error-prone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No centralized tracking of service requests across divisions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Difficulty in assignment and resource allocation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Limited audit trail and accountability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No standardized workflow or approval process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Communication gaps between employees, supervisors, and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Comprehensive digital service request management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Multi-step workflow: Submit → Approve → Assign → Execute → Report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Role-based access control with granular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Real-time tracking and audit logging of all changes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Automated tracking number generation (Bengali numerals)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Integrated signature management and approval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Scoped data-sharing API for external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28600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19 SPA</a:t>
            </a:r>
            <a:br/>
            <a:r>
              <a:t>(Frontend)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14600" y="2103120"/>
            <a:ext cx="0" cy="45720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2560320"/>
            <a:ext cx="2286000" cy="731520"/>
          </a:xfrm>
          <a:prstGeom prst="rect">
            <a:avLst/>
          </a:prstGeom>
          <a:solidFill>
            <a:srgbClr val="1F4E79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Express.js API</a:t>
            </a:r>
            <a:br/>
            <a:r>
              <a:t>(Backend)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3291840"/>
            <a:ext cx="0" cy="457199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749039"/>
            <a:ext cx="1188720" cy="640080"/>
          </a:xfrm>
          <a:prstGeom prst="rect">
            <a:avLst/>
          </a:prstGeom>
          <a:solidFill>
            <a:srgbClr val="F28E2C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3749039"/>
            <a:ext cx="1188720" cy="640080"/>
          </a:xfrm>
          <a:prstGeom prst="rect">
            <a:avLst/>
          </a:prstGeom>
          <a:solidFill>
            <a:srgbClr val="F28E2C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3749039"/>
            <a:ext cx="1188720" cy="640080"/>
          </a:xfrm>
          <a:prstGeom prst="rect">
            <a:avLst/>
          </a:prstGeom>
          <a:solidFill>
            <a:srgbClr val="F28E2C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4389120"/>
            <a:ext cx="0" cy="45720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371600" y="4846320"/>
            <a:ext cx="2286000" cy="731520"/>
          </a:xfrm>
          <a:prstGeom prst="rect">
            <a:avLst/>
          </a:prstGeom>
          <a:solidFill>
            <a:srgbClr val="CC6600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(Production)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560320"/>
            <a:ext cx="228600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Scoped Data</a:t>
            </a:r>
            <a:br/>
            <a:r>
              <a:t>Sharing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2926080"/>
            <a:ext cx="201168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69280" y="1371600"/>
            <a:ext cx="2286000" cy="731520"/>
          </a:xfrm>
          <a:prstGeom prst="rect">
            <a:avLst/>
          </a:prstGeom>
          <a:solidFill>
            <a:srgbClr val="1F4E79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External</a:t>
            </a:r>
            <a:br/>
            <a:r>
              <a:t>Applications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12280" y="3291840"/>
            <a:ext cx="0" cy="457199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0" y="3749039"/>
            <a:ext cx="2286000" cy="1828800"/>
          </a:xfrm>
          <a:prstGeom prst="rect">
            <a:avLst/>
          </a:prstGeom>
          <a:solidFill>
            <a:srgbClr val="C8C8C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Features</a:t>
            </a:r>
            <a:br/>
            <a:br/>
            <a:r>
              <a:t>- Sessions</a:t>
            </a:r>
            <a:br/>
            <a:r>
              <a:t>- CSRF Protection</a:t>
            </a:r>
            <a:br/>
            <a:r>
              <a:t>- Rate Limiting</a:t>
            </a:r>
            <a:br/>
            <a:r>
              <a:t>- Audit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Database Schema &amp;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1828800" cy="137160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users</a:t>
            </a:r>
            <a:br/>
            <a:br/>
            <a:r>
              <a:t>id (PK)</a:t>
            </a:r>
            <a:br/>
            <a:r>
              <a:t>email (UK)</a:t>
            </a:r>
            <a:br/>
            <a:r>
              <a:t>password_hash</a:t>
            </a:r>
            <a:br/>
            <a:r>
              <a:t>role</a:t>
            </a:r>
            <a:br/>
            <a:r>
              <a:t>extra_perms</a:t>
            </a:r>
            <a:br/>
            <a:r>
              <a:t>denied_perms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926080"/>
            <a:ext cx="1828800" cy="1097280"/>
          </a:xfrm>
          <a:prstGeom prst="rect">
            <a:avLst/>
          </a:prstGeom>
          <a:solidFill>
            <a:srgbClr val="F28E2C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roles</a:t>
            </a:r>
            <a:br/>
            <a:br/>
            <a:r>
              <a:t>id (PK)</a:t>
            </a:r>
            <a:br/>
            <a:r>
              <a:t>slug (UK)</a:t>
            </a:r>
            <a:br/>
            <a:r>
              <a:t>permissions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097280"/>
            <a:ext cx="2011680" cy="1645920"/>
          </a:xfrm>
          <a:prstGeom prst="rect">
            <a:avLst/>
          </a:prstGeom>
          <a:solidFill>
            <a:srgbClr val="6496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applications</a:t>
            </a:r>
            <a:br/>
            <a:br/>
            <a:r>
              <a:t>id (PK)</a:t>
            </a:r>
            <a:br/>
            <a:r>
              <a:t>tracking_no (UK)</a:t>
            </a:r>
            <a:br/>
            <a:r>
              <a:t>user_email (FK)</a:t>
            </a:r>
            <a:br/>
            <a:r>
              <a:t>division</a:t>
            </a:r>
            <a:br/>
            <a:r>
              <a:t>service_type</a:t>
            </a:r>
            <a:br/>
            <a:r>
              <a:t>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097280"/>
            <a:ext cx="2011680" cy="1645920"/>
          </a:xfrm>
          <a:prstGeom prst="rect">
            <a:avLst/>
          </a:prstGeom>
          <a:solidFill>
            <a:srgbClr val="6496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application_item_</a:t>
            </a:r>
            <a:br/>
            <a:r>
              <a:t>assignments</a:t>
            </a:r>
            <a:br/>
            <a:br/>
            <a:r>
              <a:t>id (PK)</a:t>
            </a:r>
            <a:br/>
            <a:r>
              <a:t>app_id (FK)</a:t>
            </a:r>
            <a:br/>
            <a:r>
              <a:t>officer_role</a:t>
            </a:r>
            <a:br/>
            <a:r>
              <a:t>item_name</a:t>
            </a:r>
            <a:br/>
            <a:r>
              <a:t>provider_email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754880"/>
            <a:ext cx="1828800" cy="914400"/>
          </a:xfrm>
          <a:prstGeom prst="rect">
            <a:avLst/>
          </a:prstGeom>
          <a:solidFill>
            <a:srgbClr val="C864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user_sessions</a:t>
            </a:r>
            <a:br/>
            <a:br/>
            <a:r>
              <a:t>token_hash (PK)</a:t>
            </a:r>
            <a:br/>
            <a:r>
              <a:t>user_email (FK)</a:t>
            </a:r>
            <a:br/>
            <a:r>
              <a:t>expires_at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4754880"/>
            <a:ext cx="2011680" cy="914400"/>
          </a:xfrm>
          <a:prstGeom prst="rect">
            <a:avLst/>
          </a:prstGeom>
          <a:solidFill>
            <a:srgbClr val="C864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audit_logs</a:t>
            </a:r>
            <a:br/>
            <a:br/>
            <a:r>
              <a:t>id (PK)</a:t>
            </a:r>
            <a:br/>
            <a:r>
              <a:t>user_email</a:t>
            </a:r>
            <a:br/>
            <a:r>
              <a:t>action</a:t>
            </a:r>
            <a:br/>
            <a:r>
              <a:t>timestamp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754880"/>
            <a:ext cx="2011680" cy="914400"/>
          </a:xfrm>
          <a:prstGeom prst="rect">
            <a:avLst/>
          </a:prstGeom>
          <a:solidFill>
            <a:srgbClr val="C864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data_share_clients</a:t>
            </a:r>
            <a:br/>
            <a:br/>
            <a:r>
              <a:t>id (PK)</a:t>
            </a:r>
            <a:br/>
            <a:r>
              <a:t>token_hash (UK)</a:t>
            </a:r>
            <a:br/>
            <a:r>
              <a:t>scopes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097280"/>
            <a:ext cx="1554480" cy="1097280"/>
          </a:xfrm>
          <a:prstGeom prst="rect">
            <a:avLst/>
          </a:prstGeom>
          <a:solidFill>
            <a:srgbClr val="FFC86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595959"/>
                </a:solidFill>
              </a:defRPr>
            </a:pPr>
            <a:r>
              <a:t>tracking_</a:t>
            </a:r>
            <a:br/>
            <a:r>
              <a:t>counters</a:t>
            </a:r>
            <a:br/>
            <a:br/>
            <a:r>
              <a:t>division</a:t>
            </a:r>
            <a:br/>
            <a:r>
              <a:t>year</a:t>
            </a:r>
            <a:br/>
            <a:r>
              <a:t>month</a:t>
            </a:r>
            <a:br/>
            <a:r>
              <a:t>serial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2468880"/>
            <a:ext cx="0" cy="45720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03120" y="1645920"/>
            <a:ext cx="45720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2468880"/>
            <a:ext cx="0" cy="228600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1828800"/>
            <a:ext cx="45720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0" y="2743200"/>
            <a:ext cx="0" cy="201168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2468880"/>
            <a:ext cx="2377440" cy="22860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PK = Primary Key | FK = Foreign Key | UK = Unique Key | Arrows =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 Workflow - Complete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1. Employee</a:t>
            </a:r>
            <a:br/>
            <a:r>
              <a:t>Submits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2. Divisional</a:t>
            </a:r>
            <a:br/>
            <a:r>
              <a:t>Head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3. Desk Officer</a:t>
            </a:r>
            <a:br/>
            <a:r>
              <a:t>Assign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4. Service</a:t>
            </a:r>
            <a:br/>
            <a:r>
              <a:t>Provider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5. File</a:t>
            </a:r>
            <a:br/>
            <a:r>
              <a:t>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1280160" cy="73152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95959"/>
                </a:solidFill>
              </a:defRPr>
            </a:pPr>
            <a:r>
              <a:t>6. Done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1737360"/>
            <a:ext cx="18288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1737360"/>
            <a:ext cx="18288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80560" y="1737360"/>
            <a:ext cx="18288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1737360"/>
            <a:ext cx="18288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1737360"/>
            <a:ext cx="91440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2560320"/>
            <a:ext cx="1280160" cy="548640"/>
          </a:xfrm>
          <a:prstGeom prst="rect">
            <a:avLst/>
          </a:prstGeom>
          <a:solidFill>
            <a:srgbClr val="FF646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Rejected?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2960" y="2103120"/>
            <a:ext cx="91440" cy="45720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4320" y="3383280"/>
            <a:ext cx="1280160" cy="548640"/>
          </a:xfrm>
          <a:prstGeom prst="rect">
            <a:avLst/>
          </a:prstGeom>
          <a:solidFill>
            <a:srgbClr val="C83232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Rejected Status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108960"/>
            <a:ext cx="0" cy="27432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26080" y="2560320"/>
            <a:ext cx="1645920" cy="1005840"/>
          </a:xfrm>
          <a:prstGeom prst="rect">
            <a:avLst/>
          </a:prstGeom>
          <a:solidFill>
            <a:srgbClr val="96C8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Multiple Items</a:t>
            </a:r>
            <a:br/>
            <a:br/>
            <a:r>
              <a:t>Can assign</a:t>
            </a:r>
            <a:br/>
            <a:r>
              <a:t>multiple items</a:t>
            </a:r>
            <a:br/>
            <a:r>
              <a:t>to different</a:t>
            </a:r>
            <a:br/>
            <a:r>
              <a:t>providers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560320"/>
            <a:ext cx="1280160" cy="1005840"/>
          </a:xfrm>
          <a:prstGeom prst="rect">
            <a:avLst/>
          </a:prstGeom>
          <a:solidFill>
            <a:srgbClr val="6496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95959"/>
                </a:solidFill>
              </a:defRPr>
            </a:pPr>
            <a:r>
              <a:t>Self-Assign</a:t>
            </a:r>
            <a:br/>
            <a:br/>
            <a:r>
              <a:t>Desk officer</a:t>
            </a:r>
            <a:br/>
            <a:r>
              <a:t>can self-assign</a:t>
            </a:r>
            <a:br/>
            <a:r>
              <a:t>work 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1280160" cy="457200"/>
          </a:xfrm>
          <a:prstGeom prst="rect">
            <a:avLst/>
          </a:prstGeom>
          <a:solidFill>
            <a:srgbClr val="1F9968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931920"/>
            <a:ext cx="1280160" cy="457200"/>
          </a:xfrm>
          <a:prstGeom prst="rect">
            <a:avLst/>
          </a:prstGeom>
          <a:solidFill>
            <a:srgbClr val="F28E2C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Forwarded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931920"/>
            <a:ext cx="1280160" cy="457200"/>
          </a:xfrm>
          <a:prstGeom prst="rect">
            <a:avLst/>
          </a:prstGeom>
          <a:solidFill>
            <a:srgbClr val="6496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931920"/>
            <a:ext cx="1280160" cy="457200"/>
          </a:xfrm>
          <a:prstGeom prst="rect">
            <a:avLst/>
          </a:prstGeom>
          <a:solidFill>
            <a:srgbClr val="9664FF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Presented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1280160" cy="457200"/>
          </a:xfrm>
          <a:prstGeom prst="rect">
            <a:avLst/>
          </a:prstGeom>
          <a:solidFill>
            <a:srgbClr val="64C86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React 19: Latest UI framework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TypeScript: Type safety &amp; IDE support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Tailwind CSS: Utility-first styling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Lucide Icons: Beautiful UI icons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Vite 6: Sub-second HMR, optimized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Backend &amp; DevOps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Express.js 4: Fast HTTP server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Node.js 22+: Latest runtime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PostgreSQL 16: Production database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Winston: Structured logging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PM2/systemd: Process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Testing &amp; Code Quality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Vitest: Fast unit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Jest: Integration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35+ unit tests (100% passing)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TypeScript strict mode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ESM modules for modern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Production Ready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Nginx/IIS reverse proxy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HTTPS enforced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Database migrations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Automated backups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Health check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User 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👤 Employee: Submit IT requests, track own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👔 Divisional Head: Approve/forward/reject division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🛠️ Desk Officer: Assign approved items to service providers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⚙️ Service Provider: Execute services, update progress &amp; signatures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Administrator: User management, roles, divisions, audit logs,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1️⃣ SUBMITTED: Employee creates request with service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2️⃣ FORWARDED FOR APPROVAL: Divisional head reviews &amp; approves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3️⃣ ASSIGNED: Desk officer selects items and assigns to providers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4️⃣ IN PROGRESS: Service provider starts work, updates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5️⃣ PRESENTED IN FILE: Provider submits progress/completion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6️⃣ DONE: Final printable record; full audit trail maintained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Core Tables: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users: Authentication, roles,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applications: Service requests with tracking numbers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application_item_assignments: Item-to-provider assignments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user_sessions: Database-backed login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audit_logs: Complete business event trail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data_share_clients: External API integrations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application_tracking_counters: Serial number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Authentication &amp; Authorization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Scrypt password hashing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Timing-safe verification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HttpOnly secure cookies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CSRF protection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Role-Based Access Control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Per-user extra/denied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Infrastructure Security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HTTPS enforcement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Rate limiting (auth: 10/15min)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SQL injection prevention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XSS prevention via sanitization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SSL/TLS with modern ciphers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Security headers (CSP, HSTS)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API &amp; Data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RESTful API for all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Scoped read-only data-sharing API for external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API key authentication with hashed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Granular scope controls (roles, divisions)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Complete audit logging of data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Rate limiting per API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Request/response logging and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Audit &amp; Compliance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📋 Complete audit trail for all business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Detailed logs: who, what, when, why (timestamps with timezone)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🔍 Searchable audit logs by user, action, date range,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📄 Printable application records with signatures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🗂️ Bengali numerals for better localization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Data integrity constraints and foreign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Automatic data validation on all inputs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Production-Ready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Automatic migration validation on startup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Comprehensive error handling with custom error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Structured logging with Winston (console &amp; file rotation)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Health check endpoints for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Database backup/restore automation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Production preflight validation 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Deployment checklist and runbook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SSL/TLS configuration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Deployment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Local Development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SQLite for quick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Hot module reloading (HMR)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Source maps for debugging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Dev-only routes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Mock data seeding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Production Environment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PostgreSQL for durability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PM2/systemd process management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Nginx reverse proxy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HTTPS enforcement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Health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Monitoring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Structured JSON logging for ELK/Splunk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⏱️ HTTP request metrics (latency, status codes)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Authentication event logging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💾 Database operation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🚨 Error tracking with stack traces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Log rotation (5MB per file, 10 files retention)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Request ID correlation for tracing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35+ unit tests (100% passing)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Authentication tests: password hashing, verification, strength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Permission tests: RBAC, role hierarchy, access checks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Validation tests: email, phone, string sanitization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Integration tests for critical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Type safety with TypeScript strict mode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Continuous integration 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💰 Cost Reduction: 70% less manual processing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⚡ Faster Service: Average 50% reduction in request processing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Better Analytics: Comprehensive reports and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🔍 Transparency: Complete audit trail for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🛡️ Risk Mitigation: Secure authentication and access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📈 Scalability: Handles hundreds of concurrent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🌐 Integration Ready: APIs for third-party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Localization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🇧🇩 Bengali Interface: Complete Bengali language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🔢 Bengali Numerals: All numbers displayed in Bengali (০-৯)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📝 Devanagari Support: Proper handling of special characters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⌚ Timezone Aware: All timestamps with timezone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📄 Print Optimization: Beautifully formatted printable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♿ Accessibility: WCAG compliance for screen readers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⚡ Fast Build: Vite provides sub-second HMR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📦 Optimized Bundle: Code splitting and lazy loading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🗃️ Database Indexes: Strategic indexes for query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Connection Pooling: Efficient database connection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💾 Caching: Session and permission caching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Monitoring: Request metrics for bottleneck identification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🚀 Mobile App: Native iOS/Android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📱 PWA: Progressive Web App for offline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🤖 AI Integration: Intelligent request categorization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📈 Advanced Analytics: Predictive reporting and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🔌 Webhook Support: Real-time event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📧 Email Integration: Automated email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🌍 Multi-language: Support for additional languages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Phase 1 (Months 1-3)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Development completed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Unit testing (35+ tests)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Security hardening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Phase 2 (Months 4-6)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User acceptance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Performance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Training &amp; onboarding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Production deployment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Maintenance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📋 Modular Architecture: Separate concerns for maintainability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📚 Comprehensive Documentation: All modules well-documented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🧪 Test Coverage: Unit and integration tests for regression prevention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Versioning: Git workflow with clear commit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🛠️ DevOps Ready: Infrastructure-as-code templates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📖 Runbooks: Clear operational procedures for troubleshooting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💼 Operational Efficiency: 70% time savings in request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Reduced Errors: Standardized workflow eliminates manual mistakes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Compliance: Audit trail ensures regulatory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👥 User Satisfaction: Faster resolution improves stakeholder satisfaction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🎯 Data-Driven: Analytics enable better resource allocation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💡 Digital Transformation: Foundation for future improvements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🌟 Competitive Advantage: Modern system attracts talent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 &amp; Training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Training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Admin training: User management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Divisional head: Workflow overview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Desk officers: Assignment workflow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Service providers: Work tracking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End users: Request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Ongoing Support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24/7 monitoring and alerting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Regular security updates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Database maintenance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Performance optimization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Quarterly reviews &amp; feedback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9968"/>
                </a:solidFill>
              </a:defRPr>
            </a:pPr>
            <a:r>
              <a:t>UGC IT Service Request System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FFFFFF"/>
                </a:solidFill>
              </a:defRPr>
            </a:pPr>
            <a:r>
              <a:t>Transforming IT Service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28E2C"/>
                </a:solidFill>
              </a:defRPr>
            </a:pPr>
            <a:r>
              <a:t>Production Ready • Secure • Scalable • User-Centric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